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client's world before the product: these four realities are where distributor profit quietly leaks. WHMIS is built around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dashboard is the first screen the team sees each day — today's sales and purchases, month sales and profit, receivables vs. payables, inventory value, and a 12-month trend. It turns hindsight into foresight.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Sales invoices are raised on a keyboard-driven grid; pricing, discount, GST, batch stock and credit are applied automatically and re-verified on the server before posting. Bookings mirror the same fast entry, then submit → approve → convert to a draft sale in one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Purchases capture batch, expiry and bonus units; on posting, stock is created and bonus dilutes the batch's effective cost. Stock is tracked per batch, consumed earliest-expiry-first, with full traceability.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Profit on paper means little if cash is stuck in receivables while supplier bills come due. The Financial Position screen answers 'can we meet our commitments this week?' — receivables, payables, net position, and a full payment log for any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Schemes are a major cost most distributors can't quantify. Defining them centrally makes pricing consistent and, for the first time, measurable. Returns are handled exactly — back to the right batch, at the right value — with no manual adjustment.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Seventeen ready-made reports across Sales, Purchases, Inventory and Financial. Nothing to configure — the insight is already there, on screen and exportable.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tabbed workspace keeps the team in flow with no lost work. Role-based permissions protect data and margin; in-app alerts surface issues early. Deployment is low-risk — ordinary hosting, any browser, your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the loop: restate that every pharma-specific control they need is already here on day one — this is their requirement,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600" b="1" i="0">
                <a:solidFill>
                  <a:srgbClr val="FFFFFF"/>
                </a:solidFill>
                <a:latin typeface="Calibri"/>
              </a:rPr>
              <a:t>WHMIS</a:t>
            </a:r>
          </a:p>
          <a:p>
            <a:pPr>
              <a:spcBef>
                <a:spcPts val="600"/>
              </a:spcBef>
            </a:pPr>
            <a:r>
              <a:rPr sz="2400" b="0" i="0">
                <a:solidFill>
                  <a:srgbClr val="6EE7B7"/>
                </a:solidFill>
                <a:latin typeface="Calibri"/>
              </a:rPr>
              <a:t>Pharmaceutical Distribution ERP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5" y="3611880"/>
            <a:ext cx="201168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0">
                <a:solidFill>
                  <a:srgbClr val="9CA3AF"/>
                </a:solidFill>
                <a:latin typeface="Calibri"/>
              </a:rPr>
              <a:t>System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5" y="48920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 spc="150">
                <a:solidFill>
                  <a:srgbClr val="9CA3AF"/>
                </a:solidFill>
                <a:latin typeface="Calibri"/>
              </a:rPr>
              <a:t>PREPARED FOR</a:t>
            </a:r>
          </a:p>
          <a:p>
            <a:pPr>
              <a:spcBef>
                <a:spcPts val="2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MASTER PHARMACUTICALS DISTRIBUTOR</a:t>
            </a:r>
          </a:p>
          <a:p>
            <a:pPr>
              <a:spcBef>
                <a:spcPts val="1000"/>
              </a:spcBef>
            </a:pPr>
            <a:r>
              <a:rPr sz="1100" b="0" i="0">
                <a:solidFill>
                  <a:srgbClr val="9CA3AF"/>
                </a:solidFill>
                <a:latin typeface="Calibri"/>
              </a:rPr>
              <a:t>A product of </a:t>
            </a:r>
            <a:r>
              <a:rPr sz="1300" b="1" i="0">
                <a:solidFill>
                  <a:srgbClr val="6EE7B7"/>
                </a:solidFill>
                <a:latin typeface="Calibri"/>
              </a:rPr>
              <a:t>Virtual Wisdom Technologies (SMC-Private) Limited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9CA3AF"/>
                </a:solidFill>
                <a:latin typeface="Calibri"/>
              </a:rPr>
              <a:t>August 2026    ·  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Pharmaceutical distribution is uniquely unforgiving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The everyday details that quietly erode a distributor's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5394960" cy="14173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64008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350008"/>
            <a:ext cx="4892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Calibri"/>
              </a:rPr>
              <a:t>Bonus stock hides your true cost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6B7280"/>
                </a:solidFill>
                <a:latin typeface="Calibri"/>
              </a:rPr>
              <a:t>Free “bonus” goods change what stock really costs — ignore them and every margin looks better than it 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394960" cy="14173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64008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350008"/>
            <a:ext cx="4892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Calibri"/>
              </a:rPr>
              <a:t>Expiry is money on a timer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6B7280"/>
                </a:solidFill>
                <a:latin typeface="Calibri"/>
              </a:rPr>
              <a:t>Batches expire; ship the wrong one and stock becomes a write-off instead of a 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22192"/>
            <a:ext cx="5394960" cy="14173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22192"/>
            <a:ext cx="64008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023360"/>
            <a:ext cx="4892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Calibri"/>
              </a:rPr>
              <a:t>Credit sales strain cash flow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6B7280"/>
                </a:solidFill>
                <a:latin typeface="Calibri"/>
              </a:rPr>
              <a:t>Pharmacies buy on credit — without limits and aging, overdue money hides in plain sight.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22192"/>
            <a:ext cx="5394960" cy="1417320"/>
          </a:xfrm>
          <a:prstGeom prst="roundRect">
            <a:avLst>
              <a:gd name="adj" fmla="val 4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22192"/>
            <a:ext cx="64008" cy="14173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6248" y="4023360"/>
            <a:ext cx="4892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50" b="1" i="0">
                <a:solidFill>
                  <a:srgbClr val="0F172A"/>
                </a:solidFill>
                <a:latin typeface="Calibri"/>
              </a:rPr>
              <a:t>Trade schemes applied by hand drift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6B7280"/>
                </a:solidFill>
                <a:latin typeface="Calibri"/>
              </a:rPr>
              <a:t>Inconsistent, unmeasured schemes cost more than you think and treat customers unequally.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458968"/>
            <a:ext cx="11183112" cy="56692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45896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1" i="0">
                <a:solidFill>
                  <a:srgbClr val="047857"/>
                </a:solidFill>
                <a:latin typeface="Calibri"/>
              </a:rPr>
              <a:t>WHMIS is engineered around exactly these realities — so the system protects your margin while your team simply does its job.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THE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One connected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Purchase → stock → book → sell → collect → report — reconciled automatically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44591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Every step of the business in a single, always-current source of truth — no more scattered spreadsheets and registers.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Purpose-built for pharma: batch &amp; expiry tracking, bonus-stock handling, and a true cost that includes free goods.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Localised for Pakistan — PKR pricing with GST / NTN / STRN / CNIC on every party and document.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Runs on ordinary cPanel hosting, in any browser — nothing special to install.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Sell &amp; book — faster billing, controlled credit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From field order to posted invoice, without re-keying or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sales-en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Keyboard-fast invoice entry built for high daily volumes — bill in seconds, not minutes.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Stock is drawn from the earliest-expiry batch automatically; you never oversell or ship expired goods.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Customers over their credit limit are blocked before a credit invoice can post — cash flow protected.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Field bookings flow through approval into a ready-to-bill invoice, carrying their trade schemes with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Buy &amp; stock — true cost, zero expiry waste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Honest margins, and older stock out the door before it expires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44591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-batch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Free bonus units fold into each batch's effective cost, so profit is always calculated truthfully.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Expiry-first (FIFO) issuing pushes the earliest-expiring batch out first, minimising write-offs.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Near-expiry and low-stock situations are surfaced early — you act before a loss or a shortage.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Every unit's movement in and out is recorded in an append-only history you can always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Money &amp; position — know where you 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Receivables vs. payables, and the net position between them — right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4-financial-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A single Financial Position screen: Due from Customers, Owed to Suppliers, and Net Position, headlined.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Receivables and payables with aging buckets, so overdue accounts and upcoming bills stand out instantly.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Receipts and payments allocate against invoices; balances and aging update the moment money moves.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Pick any date range and print the whole position statement to PDF for owners, banks or auditors.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SALES 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Trade schemes &amp; clean returns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Consistent pricing you can measure — and reversals that never drift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44591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5-incenti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Define each scheme once — bonus, slab bonus, percentage or fixed discount, special price — and target it precisely.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Rules only fill the invoice line, so your team keeps the final say; the Incentives Given report shows their true cost.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Sales returns restore stock to the exact batches sold and refund proportionally; purchase returns reverse supplier balances.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Returns post immediately with the right credit and debit notes — inventory and ledgers stay perfectly in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Seventeen reports, one click to export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The views a distributor needs to run — and defend — the business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9-report-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9037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Sales, Purchases, Inventory and Financial reports — registers, profitability, aging, stock, expiry and more.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Each renders with totals and, where useful, a chart — no spreadsheets to build or maintain.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One click exports any report to Excel or PDF for owners, auditors and partners.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Everyone works from the same trusted figures — you spend time deciding, not assembling.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Modern, safe, and localised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Many screens in one window, the right access for every 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44591" y="2348293"/>
            <a:ext cx="6099048" cy="385305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  <a:effectLst>
            <a:outerShdw blurRad="90000" dist="50000" dir="5400000" rotWithShape="0">
              <a:srgbClr val="0F172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1-work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455" y="2403157"/>
            <a:ext cx="5989320" cy="3743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2240280"/>
            <a:ext cx="4800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Open sales, bookings, inventory and reports as tabs in one window — switch instantly, each keeps its own state.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Role-based access gates every sensitive action; bookers create orders but never touch billing or master pricing.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Proactive alerts flag low stock, expiry, overdue balances and pending approvals before they cost you.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 i="0">
                <a:solidFill>
                  <a:srgbClr val="059669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1F2937"/>
                </a:solidFill>
                <a:latin typeface="Calibri"/>
              </a:rPr>
              <a:t>Browser-based and cPanel-friendly, with your data in your own database, under your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THE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Why WHMIS fits Master Pharmacuticals Distributor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6B7280"/>
                </a:solidFill>
                <a:latin typeface="Calibri"/>
              </a:rPr>
              <a:t>Built for how a pharmaceutical distributor in Pakistan actually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One connected workflow — purchase to collection — with every figure reconciled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2860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240280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Purpose-built for pharma: batches, expiry, bonus stock, and a true cost that keeps margins honest.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447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472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01568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Cash under control — credit limits, aging and a live net position protect working capital.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447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5352" y="34472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401568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Trade schemes applied consistently and, at last, measured.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085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6085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562856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Localised for Pakistan: PKR and GST / NTN / STRN / CNIC throughout.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45352" y="46085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46085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562856"/>
            <a:ext cx="48006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0" i="0">
                <a:solidFill>
                  <a:srgbClr val="1F2937"/>
                </a:solidFill>
                <a:latin typeface="Calibri"/>
              </a:rPr>
              <a:t>Low-risk to adopt: ordinary cPanel hosting, browser-based, your data in your own database.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0584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See it on your own data.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9CA3AF"/>
                </a:solidFill>
                <a:latin typeface="Calibri"/>
              </a:rPr>
              <a:t>We would be glad to walk the team at </a:t>
            </a:r>
            <a:r>
              <a:rPr sz="1500" b="1" i="0">
                <a:solidFill>
                  <a:srgbClr val="6EE7B7"/>
                </a:solidFill>
                <a:latin typeface="Calibri"/>
              </a:rPr>
              <a:t>Master Pharmacuticals Distributor</a:t>
            </a:r>
          </a:p>
          <a:p>
            <a:r>
              <a:rPr sz="1500" b="0" i="0">
                <a:solidFill>
                  <a:srgbClr val="9CA3AF"/>
                </a:solidFill>
                <a:latin typeface="Calibri"/>
              </a:rPr>
              <a:t>through a live, hands-on demonstration of WHMIS.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2415" y="4434840"/>
            <a:ext cx="2011680" cy="457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5" y="466344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9CA3AF"/>
                </a:solidFill>
                <a:latin typeface="Calibri"/>
              </a:rPr>
              <a:t>A product of</a:t>
            </a:r>
          </a:p>
          <a:p>
            <a:r>
              <a:rPr sz="1600" b="1" i="0">
                <a:solidFill>
                  <a:srgbClr val="FFFFFF"/>
                </a:solidFill>
                <a:latin typeface="Calibri"/>
              </a:rPr>
              <a:t>Virtual Wisdom Technologies (SMC-Private) Limited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150">
                <a:solidFill>
                  <a:srgbClr val="059669"/>
                </a:solidFill>
                <a:latin typeface="Calibri"/>
              </a:rPr>
              <a:t>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Confidentiality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" y="1536192"/>
            <a:ext cx="640080" cy="4114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1183112" cy="31089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82296" cy="3108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1033272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1F2937"/>
                </a:solidFill>
                <a:latin typeface="Calibri"/>
              </a:rPr>
              <a:t>This document and the WHMIS platform it describes are the confidential and proprietary property of Virtual Wisdom Technologies (SMC-Private) Limited. It has been prepared exclusively for MASTER PHARMACUTICALS DISTRIBUTOR for the sole purpose of evaluating the system.</a:t>
            </a:r>
          </a:p>
          <a:p>
            <a:pPr>
              <a:spcBef>
                <a:spcPts val="1200"/>
              </a:spcBef>
            </a:pPr>
            <a:r>
              <a:rPr sz="1350" b="0" i="0">
                <a:solidFill>
                  <a:srgbClr val="1F2937"/>
                </a:solidFill>
                <a:latin typeface="Calibri"/>
              </a:rPr>
              <a:t>Its contents may not be copied, reproduced, distributed or disclosed to any third party, in whole or in part, without the prior written consent of Virtual Wisdom Technologies (SMC-Private) Limited.</a:t>
            </a:r>
          </a:p>
          <a:p>
            <a:pPr>
              <a:spcBef>
                <a:spcPts val="1600"/>
              </a:spcBef>
            </a:pPr>
            <a:r>
              <a:rPr sz="1100" b="0" i="1">
                <a:solidFill>
                  <a:srgbClr val="6B7280"/>
                </a:solidFill>
                <a:latin typeface="Calibri"/>
              </a:rPr>
              <a:t>© 2026 Virtual Wisdom Technologies (SMC-Private) Limited. All rights reserved.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19088"/>
            <a:ext cx="11183112" cy="5486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1" i="0">
                <a:solidFill>
                  <a:srgbClr val="047857"/>
                </a:solidFill>
                <a:latin typeface="Calibri"/>
              </a:rPr>
              <a:t>Confidential</a:t>
            </a:r>
            <a:r>
              <a:rPr sz="800" b="0" i="0">
                <a:solidFill>
                  <a:srgbClr val="6B7280"/>
                </a:solidFill>
                <a:latin typeface="Calibri"/>
              </a:rPr>
              <a:t>   ·   WHMIS   ·   Virtual Wisdom Technologies (SMC-Private) Limited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55664"/>
            <a:ext cx="162763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